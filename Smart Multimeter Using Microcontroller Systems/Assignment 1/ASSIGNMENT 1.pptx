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25738F9-B4FA-49B7-8C69-48DD53EA9000}">
          <p14:sldIdLst>
            <p14:sldId id="256"/>
            <p14:sldId id="257"/>
            <p14:sldId id="258"/>
            <p14:sldId id="259"/>
            <p14:sldId id="260"/>
            <p14:sldId id="261"/>
            <p14:sldId id="262"/>
            <p14:sldId id="263"/>
            <p14:sldId id="264"/>
            <p14:sldId id="265"/>
            <p14:sldId id="266"/>
            <p14:sldId id="267"/>
            <p14:sldId id="26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8" d="100"/>
          <a:sy n="78" d="100"/>
        </p:scale>
        <p:origin x="62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936B9-FEB8-46FF-FF44-E2E54E9004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D47943-1670-7884-C962-42052EF1D8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9320FBB-56D1-F0F1-9F89-DCE3E809210B}"/>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5" name="Footer Placeholder 4">
            <a:extLst>
              <a:ext uri="{FF2B5EF4-FFF2-40B4-BE49-F238E27FC236}">
                <a16:creationId xmlns:a16="http://schemas.microsoft.com/office/drawing/2014/main" id="{2B9FC297-0059-ACDD-6042-891D5C144B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319D8F-95C2-DABD-A5FC-DFD81BC275D7}"/>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2558776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ED76C-6B44-0019-C48A-AD96C54C30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658FE1-B27A-67E7-7612-BCE4E37F0E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265C04-9EBE-F3B2-D235-DE845483545C}"/>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5" name="Footer Placeholder 4">
            <a:extLst>
              <a:ext uri="{FF2B5EF4-FFF2-40B4-BE49-F238E27FC236}">
                <a16:creationId xmlns:a16="http://schemas.microsoft.com/office/drawing/2014/main" id="{001F5781-6C7F-EAA1-46FD-ADC2BFC97D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258BC0-8595-11EB-331F-273D075D3576}"/>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1142255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640A6-58A4-E2AC-D8B1-48580B24B9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FEAFB47-087B-6F42-E70F-0D68099507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6CAE80-4B4C-CCED-84B1-CF90508B2146}"/>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5" name="Footer Placeholder 4">
            <a:extLst>
              <a:ext uri="{FF2B5EF4-FFF2-40B4-BE49-F238E27FC236}">
                <a16:creationId xmlns:a16="http://schemas.microsoft.com/office/drawing/2014/main" id="{6F354A8C-64AF-0E3E-F24D-78FA505A1B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5716DA-774F-05C3-D5DF-EBBA87997F9F}"/>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2612410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8F5C9-B144-911B-98F2-7EC643EB1D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B1A481-AC29-2660-123D-CAADC32651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A1B6512-B10D-7D9E-4610-97A7E0A243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00DA23-8FD7-3759-D44F-4D64A403F91D}"/>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6" name="Footer Placeholder 5">
            <a:extLst>
              <a:ext uri="{FF2B5EF4-FFF2-40B4-BE49-F238E27FC236}">
                <a16:creationId xmlns:a16="http://schemas.microsoft.com/office/drawing/2014/main" id="{D9D61D5E-236E-3198-BA61-21FDB4BF91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9D003D-3AEE-C2AA-8BFD-DE8718F830E7}"/>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883110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C4EC0-B353-78ED-667C-D9BABFDB84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CEB5F8-FE7E-6DF8-DB52-90FA06EB67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1567CE-8FD9-F14C-449A-00E7183F0E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7434F3-CC32-DE9F-15B3-7E75582B2D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5B5644-7C31-740A-2D72-15595DEA4B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D70B23-6F93-21F1-2EE7-A6AF091AC2D8}"/>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8" name="Footer Placeholder 7">
            <a:extLst>
              <a:ext uri="{FF2B5EF4-FFF2-40B4-BE49-F238E27FC236}">
                <a16:creationId xmlns:a16="http://schemas.microsoft.com/office/drawing/2014/main" id="{F2E1C9DD-ADCA-CEF3-6788-0E0D013B22A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4ECFA04-BE88-39BD-ABCA-C2F0339AAF40}"/>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3992254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089AC-349B-9315-2624-5FE53DC69A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2F1A148-ADBA-14C4-AC69-79874BD5F39D}"/>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4" name="Footer Placeholder 3">
            <a:extLst>
              <a:ext uri="{FF2B5EF4-FFF2-40B4-BE49-F238E27FC236}">
                <a16:creationId xmlns:a16="http://schemas.microsoft.com/office/drawing/2014/main" id="{8181AB5B-78B6-040C-8744-92A553C522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D2E8BA-93E0-2B3F-3023-B5AE5AD4FA1E}"/>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216368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7F5F23-43FD-9DEA-D7F8-E5F2A4F10593}"/>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3" name="Footer Placeholder 2">
            <a:extLst>
              <a:ext uri="{FF2B5EF4-FFF2-40B4-BE49-F238E27FC236}">
                <a16:creationId xmlns:a16="http://schemas.microsoft.com/office/drawing/2014/main" id="{DB1C072E-174E-F1DC-0893-D25F3485A8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8F9B407-3FE6-125C-CAE1-676EEF5AF61A}"/>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3521032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11B57-AE0A-DE23-0DB1-F87208B0E5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0471080-9E86-2F3D-1A46-8868AB829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269A9A4-7C51-F751-D519-E4ED25AFCB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DC1E22-F332-268D-7B3B-DA90EF8914AA}"/>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6" name="Footer Placeholder 5">
            <a:extLst>
              <a:ext uri="{FF2B5EF4-FFF2-40B4-BE49-F238E27FC236}">
                <a16:creationId xmlns:a16="http://schemas.microsoft.com/office/drawing/2014/main" id="{421AD420-5B5C-0BA8-AC86-D42CEF0C06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A5A2FE-6C62-F2D4-BC89-7B6EFB16AF4B}"/>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2112187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3E40-A508-9DB6-1E50-E1F1DA6F8E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4F008D-BDDB-1129-9BC9-3F08512C75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CA9EB8-E7B2-AFA3-51FE-827037869D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97F31C-A904-1266-DC71-447A979F4DC7}"/>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6" name="Footer Placeholder 5">
            <a:extLst>
              <a:ext uri="{FF2B5EF4-FFF2-40B4-BE49-F238E27FC236}">
                <a16:creationId xmlns:a16="http://schemas.microsoft.com/office/drawing/2014/main" id="{32691D90-8ABC-9187-B193-70C8222606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6ECEA4-9F04-7FA5-C740-2231FD0C5010}"/>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954256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0901A-D705-9D29-824A-0249D4E9CA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F7F620-C09B-A113-CD86-18E2B1184B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FCFE57-0CCF-29DD-D3A8-B453A2FA7737}"/>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5" name="Footer Placeholder 4">
            <a:extLst>
              <a:ext uri="{FF2B5EF4-FFF2-40B4-BE49-F238E27FC236}">
                <a16:creationId xmlns:a16="http://schemas.microsoft.com/office/drawing/2014/main" id="{AF7F5A52-0B64-0834-E5CD-90FD1432B7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902D50-5714-EA6A-1098-546705A5E92F}"/>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913442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FD11D8-6A78-1656-7ABA-204F37A081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177A6B-E27E-2BF7-F74E-3CDAD773C0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F9E6D7-1404-C93E-1810-8695F66A083A}"/>
              </a:ext>
            </a:extLst>
          </p:cNvPr>
          <p:cNvSpPr>
            <a:spLocks noGrp="1"/>
          </p:cNvSpPr>
          <p:nvPr>
            <p:ph type="dt" sz="half" idx="10"/>
          </p:nvPr>
        </p:nvSpPr>
        <p:spPr/>
        <p:txBody>
          <a:bodyPr/>
          <a:lstStyle/>
          <a:p>
            <a:fld id="{FC4172DF-0E93-46BD-9C2A-4FB49DED5DEA}" type="datetimeFigureOut">
              <a:rPr lang="en-IN" smtClean="0"/>
              <a:t>13-12-2025</a:t>
            </a:fld>
            <a:endParaRPr lang="en-IN"/>
          </a:p>
        </p:txBody>
      </p:sp>
      <p:sp>
        <p:nvSpPr>
          <p:cNvPr id="5" name="Footer Placeholder 4">
            <a:extLst>
              <a:ext uri="{FF2B5EF4-FFF2-40B4-BE49-F238E27FC236}">
                <a16:creationId xmlns:a16="http://schemas.microsoft.com/office/drawing/2014/main" id="{73422AB0-2E07-BFD3-17B2-B0775502EC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CE9791-846E-32D9-BA88-04B037BAEBD9}"/>
              </a:ext>
            </a:extLst>
          </p:cNvPr>
          <p:cNvSpPr>
            <a:spLocks noGrp="1"/>
          </p:cNvSpPr>
          <p:nvPr>
            <p:ph type="sldNum" sz="quarter" idx="12"/>
          </p:nvPr>
        </p:nvSpPr>
        <p:spPr/>
        <p:txBody>
          <a:bodyPr/>
          <a:lstStyle/>
          <a:p>
            <a:fld id="{A0DD67AA-C0CA-48CF-914B-8998898E1670}" type="slidenum">
              <a:rPr lang="en-IN" smtClean="0"/>
              <a:t>‹#›</a:t>
            </a:fld>
            <a:endParaRPr lang="en-IN"/>
          </a:p>
        </p:txBody>
      </p:sp>
    </p:spTree>
    <p:extLst>
      <p:ext uri="{BB962C8B-B14F-4D97-AF65-F5344CB8AC3E}">
        <p14:creationId xmlns:p14="http://schemas.microsoft.com/office/powerpoint/2010/main" val="3602401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942DA-DAFB-A51D-AFB8-9D22DBEA0C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F6A675-6503-0378-71F0-D7BECF485C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A37BFB-EF84-A1FF-CDBA-B4D4D89CB5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4172DF-0E93-46BD-9C2A-4FB49DED5DEA}" type="datetimeFigureOut">
              <a:rPr lang="en-IN" smtClean="0"/>
              <a:t>13-12-2025</a:t>
            </a:fld>
            <a:endParaRPr lang="en-IN"/>
          </a:p>
        </p:txBody>
      </p:sp>
      <p:sp>
        <p:nvSpPr>
          <p:cNvPr id="5" name="Footer Placeholder 4">
            <a:extLst>
              <a:ext uri="{FF2B5EF4-FFF2-40B4-BE49-F238E27FC236}">
                <a16:creationId xmlns:a16="http://schemas.microsoft.com/office/drawing/2014/main" id="{50D183BF-4F9B-D30D-905C-97E7EC9E3D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FD22850-CC41-2E05-D1A3-C0B9A458CC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DD67AA-C0CA-48CF-914B-8998898E1670}" type="slidenum">
              <a:rPr lang="en-IN" smtClean="0"/>
              <a:t>‹#›</a:t>
            </a:fld>
            <a:endParaRPr lang="en-IN"/>
          </a:p>
        </p:txBody>
      </p:sp>
    </p:spTree>
    <p:extLst>
      <p:ext uri="{BB962C8B-B14F-4D97-AF65-F5344CB8AC3E}">
        <p14:creationId xmlns:p14="http://schemas.microsoft.com/office/powerpoint/2010/main" val="14179087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0B8B1-355A-67FC-9C12-6F2260189EE0}"/>
              </a:ext>
            </a:extLst>
          </p:cNvPr>
          <p:cNvSpPr>
            <a:spLocks noGrp="1"/>
          </p:cNvSpPr>
          <p:nvPr>
            <p:ph type="ctrTitle"/>
          </p:nvPr>
        </p:nvSpPr>
        <p:spPr>
          <a:xfrm>
            <a:off x="1524000" y="-629264"/>
            <a:ext cx="9065342" cy="2585883"/>
          </a:xfrm>
        </p:spPr>
        <p:txBody>
          <a:bodyPr>
            <a:normAutofit/>
          </a:bodyPr>
          <a:lstStyle/>
          <a:p>
            <a:r>
              <a:rPr lang="en-US" sz="9600" b="1" dirty="0">
                <a:latin typeface="+mn-lt"/>
              </a:rPr>
              <a:t>ASSIGNMENT 1</a:t>
            </a:r>
            <a:endParaRPr lang="en-IN" sz="9600" b="1" dirty="0">
              <a:latin typeface="+mn-lt"/>
            </a:endParaRPr>
          </a:p>
        </p:txBody>
      </p:sp>
      <p:sp>
        <p:nvSpPr>
          <p:cNvPr id="3" name="Subtitle 2">
            <a:extLst>
              <a:ext uri="{FF2B5EF4-FFF2-40B4-BE49-F238E27FC236}">
                <a16:creationId xmlns:a16="http://schemas.microsoft.com/office/drawing/2014/main" id="{ECCC5C54-D09C-8D09-B5A0-953A25A6C43F}"/>
              </a:ext>
            </a:extLst>
          </p:cNvPr>
          <p:cNvSpPr>
            <a:spLocks noGrp="1"/>
          </p:cNvSpPr>
          <p:nvPr>
            <p:ph type="subTitle" idx="1"/>
          </p:nvPr>
        </p:nvSpPr>
        <p:spPr>
          <a:xfrm>
            <a:off x="1" y="5427406"/>
            <a:ext cx="3972232" cy="1189703"/>
          </a:xfrm>
        </p:spPr>
        <p:txBody>
          <a:bodyPr/>
          <a:lstStyle/>
          <a:p>
            <a:r>
              <a:rPr lang="en-US" b="1" dirty="0"/>
              <a:t>Name-</a:t>
            </a:r>
            <a:r>
              <a:rPr lang="en-US" b="1" dirty="0" err="1"/>
              <a:t>Priyanshu</a:t>
            </a:r>
            <a:r>
              <a:rPr lang="en-US" b="1" dirty="0"/>
              <a:t> Mehta</a:t>
            </a:r>
          </a:p>
          <a:p>
            <a:r>
              <a:rPr lang="en-US" b="1" dirty="0"/>
              <a:t>Roll Number-240808</a:t>
            </a:r>
          </a:p>
          <a:p>
            <a:endParaRPr lang="en-US" dirty="0"/>
          </a:p>
          <a:p>
            <a:endParaRPr lang="en-US" dirty="0"/>
          </a:p>
          <a:p>
            <a:endParaRPr lang="en-US" dirty="0"/>
          </a:p>
          <a:p>
            <a:endParaRPr lang="en-IN" dirty="0"/>
          </a:p>
        </p:txBody>
      </p:sp>
      <p:sp>
        <p:nvSpPr>
          <p:cNvPr id="4" name="TextBox 3">
            <a:extLst>
              <a:ext uri="{FF2B5EF4-FFF2-40B4-BE49-F238E27FC236}">
                <a16:creationId xmlns:a16="http://schemas.microsoft.com/office/drawing/2014/main" id="{BC4AA517-52CD-C3B2-9DBA-B23CEBDD112F}"/>
              </a:ext>
            </a:extLst>
          </p:cNvPr>
          <p:cNvSpPr txBox="1"/>
          <p:nvPr/>
        </p:nvSpPr>
        <p:spPr>
          <a:xfrm>
            <a:off x="1848464" y="2659625"/>
            <a:ext cx="9901083" cy="1323439"/>
          </a:xfrm>
          <a:prstGeom prst="rect">
            <a:avLst/>
          </a:prstGeom>
          <a:noFill/>
        </p:spPr>
        <p:txBody>
          <a:bodyPr wrap="square" rtlCol="0">
            <a:spAutoFit/>
          </a:bodyPr>
          <a:lstStyle/>
          <a:p>
            <a:r>
              <a:rPr lang="en-US" sz="4000" b="1" dirty="0">
                <a:latin typeface="+mj-lt"/>
              </a:rPr>
              <a:t>BASIC OHMMETRE AND CAPACITANCE MEASURMENT</a:t>
            </a:r>
            <a:endParaRPr lang="en-IN" sz="4000" b="1" dirty="0">
              <a:latin typeface="+mj-lt"/>
            </a:endParaRPr>
          </a:p>
        </p:txBody>
      </p:sp>
    </p:spTree>
    <p:extLst>
      <p:ext uri="{BB962C8B-B14F-4D97-AF65-F5344CB8AC3E}">
        <p14:creationId xmlns:p14="http://schemas.microsoft.com/office/powerpoint/2010/main" val="3649578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8CEF2-77A2-1934-1676-0FCA96DE2342}"/>
              </a:ext>
            </a:extLst>
          </p:cNvPr>
          <p:cNvSpPr>
            <a:spLocks noGrp="1"/>
          </p:cNvSpPr>
          <p:nvPr>
            <p:ph type="title"/>
          </p:nvPr>
        </p:nvSpPr>
        <p:spPr/>
        <p:txBody>
          <a:bodyPr/>
          <a:lstStyle/>
          <a:p>
            <a:r>
              <a:rPr lang="en-US" b="1" dirty="0">
                <a:latin typeface="+mn-lt"/>
              </a:rPr>
              <a:t>OBJECTIVE</a:t>
            </a:r>
            <a:endParaRPr lang="en-IN" b="1" dirty="0">
              <a:latin typeface="+mn-lt"/>
            </a:endParaRPr>
          </a:p>
        </p:txBody>
      </p:sp>
      <p:sp>
        <p:nvSpPr>
          <p:cNvPr id="3" name="Content Placeholder 2">
            <a:extLst>
              <a:ext uri="{FF2B5EF4-FFF2-40B4-BE49-F238E27FC236}">
                <a16:creationId xmlns:a16="http://schemas.microsoft.com/office/drawing/2014/main" id="{EF8CA046-98F9-D46D-BCAF-F26812CC9556}"/>
              </a:ext>
            </a:extLst>
          </p:cNvPr>
          <p:cNvSpPr>
            <a:spLocks noGrp="1"/>
          </p:cNvSpPr>
          <p:nvPr>
            <p:ph idx="1"/>
          </p:nvPr>
        </p:nvSpPr>
        <p:spPr/>
        <p:txBody>
          <a:bodyPr>
            <a:normAutofit fontScale="92500" lnSpcReduction="10000"/>
          </a:bodyPr>
          <a:lstStyle/>
          <a:p>
            <a:pPr marL="0" indent="0">
              <a:buNone/>
            </a:pPr>
            <a:r>
              <a:rPr lang="en-US" dirty="0"/>
              <a:t>. In this assignment we are designing a simulated measurement module</a:t>
            </a:r>
          </a:p>
          <a:p>
            <a:pPr marL="0" indent="0">
              <a:buNone/>
            </a:pPr>
            <a:r>
              <a:rPr lang="en-US" dirty="0"/>
              <a:t>that performs a basic resistance and capacitance measurement on </a:t>
            </a:r>
            <a:r>
              <a:rPr lang="en-US" dirty="0" err="1"/>
              <a:t>Tinkercad</a:t>
            </a:r>
            <a:r>
              <a:rPr lang="en-US" dirty="0"/>
              <a:t> using Arduino Uno.</a:t>
            </a:r>
          </a:p>
          <a:p>
            <a:pPr marL="0" indent="0">
              <a:buNone/>
            </a:pPr>
            <a:endParaRPr lang="en-US" dirty="0"/>
          </a:p>
          <a:p>
            <a:pPr marL="0" indent="0">
              <a:buNone/>
            </a:pPr>
            <a:r>
              <a:rPr lang="en-US" dirty="0"/>
              <a:t>. Understanding theoretical values and comparing them with tinker cad results to achieve a conclusion of error and noises sources present in the circuit </a:t>
            </a:r>
          </a:p>
          <a:p>
            <a:pPr marL="0" indent="0">
              <a:buNone/>
            </a:pPr>
            <a:endParaRPr lang="en-US" dirty="0"/>
          </a:p>
          <a:p>
            <a:pPr marL="0" indent="0">
              <a:buNone/>
            </a:pPr>
            <a:r>
              <a:rPr lang="en-US" dirty="0"/>
              <a:t>. The whole concept of simple ohmmeter and capacitance measurement is basic circuit laws including voltage divider analysis and calculating time </a:t>
            </a:r>
            <a:r>
              <a:rPr lang="en-US" dirty="0" err="1"/>
              <a:t>upto</a:t>
            </a:r>
            <a:r>
              <a:rPr lang="en-US" dirty="0"/>
              <a:t> when voltage across capacitor reaches a threshold.</a:t>
            </a:r>
            <a:endParaRPr lang="en-IN" dirty="0"/>
          </a:p>
        </p:txBody>
      </p:sp>
    </p:spTree>
    <p:extLst>
      <p:ext uri="{BB962C8B-B14F-4D97-AF65-F5344CB8AC3E}">
        <p14:creationId xmlns:p14="http://schemas.microsoft.com/office/powerpoint/2010/main" val="477608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8B830-3C90-EA64-E449-BBC1FE79057B}"/>
              </a:ext>
            </a:extLst>
          </p:cNvPr>
          <p:cNvSpPr>
            <a:spLocks noGrp="1"/>
          </p:cNvSpPr>
          <p:nvPr>
            <p:ph type="title"/>
          </p:nvPr>
        </p:nvSpPr>
        <p:spPr>
          <a:xfrm>
            <a:off x="838200" y="365125"/>
            <a:ext cx="10980174" cy="1325563"/>
          </a:xfrm>
        </p:spPr>
        <p:txBody>
          <a:bodyPr>
            <a:normAutofit/>
          </a:bodyPr>
          <a:lstStyle/>
          <a:p>
            <a:r>
              <a:rPr lang="en-US" sz="3200" b="1" dirty="0">
                <a:latin typeface="+mn-lt"/>
              </a:rPr>
              <a:t>TASK A -VOLTAGE DIVIDER ANALYSIS FOR ESTIMATING VOLTAGE</a:t>
            </a:r>
            <a:endParaRPr lang="en-IN" sz="3200" b="1" dirty="0">
              <a:latin typeface="+mn-lt"/>
            </a:endParaRPr>
          </a:p>
        </p:txBody>
      </p:sp>
      <p:pic>
        <p:nvPicPr>
          <p:cNvPr id="5" name="Content Placeholder 4">
            <a:extLst>
              <a:ext uri="{FF2B5EF4-FFF2-40B4-BE49-F238E27FC236}">
                <a16:creationId xmlns:a16="http://schemas.microsoft.com/office/drawing/2014/main" id="{A195BD19-098A-3715-CB45-1B147B4572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47019"/>
            <a:ext cx="12192000" cy="5510981"/>
          </a:xfrm>
        </p:spPr>
      </p:pic>
    </p:spTree>
    <p:extLst>
      <p:ext uri="{BB962C8B-B14F-4D97-AF65-F5344CB8AC3E}">
        <p14:creationId xmlns:p14="http://schemas.microsoft.com/office/powerpoint/2010/main" val="1559314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DAFED-73C5-D0AA-F717-0B236980E9F3}"/>
              </a:ext>
            </a:extLst>
          </p:cNvPr>
          <p:cNvSpPr>
            <a:spLocks noGrp="1"/>
          </p:cNvSpPr>
          <p:nvPr>
            <p:ph type="title"/>
          </p:nvPr>
        </p:nvSpPr>
        <p:spPr>
          <a:xfrm>
            <a:off x="838200" y="108155"/>
            <a:ext cx="10515600" cy="1089077"/>
          </a:xfrm>
        </p:spPr>
        <p:txBody>
          <a:bodyPr>
            <a:normAutofit/>
          </a:bodyPr>
          <a:lstStyle/>
          <a:p>
            <a:r>
              <a:rPr lang="en-US" sz="1600" b="1" dirty="0">
                <a:latin typeface="+mn-lt"/>
              </a:rPr>
              <a:t>PAIR(10Kohm-10kohm)                                                PAIR(4.7Kohm-10kohm)                                         PAIR(1Kohm-15kohm) </a:t>
            </a:r>
            <a:endParaRPr lang="en-IN" sz="1600" b="1" dirty="0">
              <a:latin typeface="+mn-lt"/>
            </a:endParaRPr>
          </a:p>
        </p:txBody>
      </p:sp>
      <p:pic>
        <p:nvPicPr>
          <p:cNvPr id="5" name="Content Placeholder 4">
            <a:extLst>
              <a:ext uri="{FF2B5EF4-FFF2-40B4-BE49-F238E27FC236}">
                <a16:creationId xmlns:a16="http://schemas.microsoft.com/office/drawing/2014/main" id="{3944224C-97D5-006F-1CF5-9998509365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86580"/>
            <a:ext cx="3705048" cy="4023699"/>
          </a:xfrm>
        </p:spPr>
      </p:pic>
      <p:pic>
        <p:nvPicPr>
          <p:cNvPr id="7" name="Picture 6">
            <a:extLst>
              <a:ext uri="{FF2B5EF4-FFF2-40B4-BE49-F238E27FC236}">
                <a16:creationId xmlns:a16="http://schemas.microsoft.com/office/drawing/2014/main" id="{A9BB1486-A563-F374-E4A1-8EC3B7404A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5048" y="786580"/>
            <a:ext cx="4011803" cy="4023699"/>
          </a:xfrm>
          <a:prstGeom prst="rect">
            <a:avLst/>
          </a:prstGeom>
        </p:spPr>
      </p:pic>
      <p:pic>
        <p:nvPicPr>
          <p:cNvPr id="9" name="Picture 8">
            <a:extLst>
              <a:ext uri="{FF2B5EF4-FFF2-40B4-BE49-F238E27FC236}">
                <a16:creationId xmlns:a16="http://schemas.microsoft.com/office/drawing/2014/main" id="{EB476AB0-D9BC-6DFA-F1E2-C392775F04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16851" y="786580"/>
            <a:ext cx="3858427" cy="4023699"/>
          </a:xfrm>
          <a:prstGeom prst="rect">
            <a:avLst/>
          </a:prstGeom>
        </p:spPr>
      </p:pic>
      <p:pic>
        <p:nvPicPr>
          <p:cNvPr id="11" name="Picture 10">
            <a:extLst>
              <a:ext uri="{FF2B5EF4-FFF2-40B4-BE49-F238E27FC236}">
                <a16:creationId xmlns:a16="http://schemas.microsoft.com/office/drawing/2014/main" id="{DB26F648-684D-E7C8-F020-450A960FFB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4828670" y="2756087"/>
            <a:ext cx="1764560" cy="6154131"/>
          </a:xfrm>
          <a:prstGeom prst="rect">
            <a:avLst/>
          </a:prstGeom>
        </p:spPr>
      </p:pic>
    </p:spTree>
    <p:extLst>
      <p:ext uri="{BB962C8B-B14F-4D97-AF65-F5344CB8AC3E}">
        <p14:creationId xmlns:p14="http://schemas.microsoft.com/office/powerpoint/2010/main" val="1406950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38C66-FE59-CBE5-BFC0-164C26C0C54F}"/>
              </a:ext>
            </a:extLst>
          </p:cNvPr>
          <p:cNvSpPr>
            <a:spLocks noGrp="1"/>
          </p:cNvSpPr>
          <p:nvPr>
            <p:ph type="title"/>
          </p:nvPr>
        </p:nvSpPr>
        <p:spPr>
          <a:xfrm>
            <a:off x="-1" y="365125"/>
            <a:ext cx="6528619" cy="6309247"/>
          </a:xfrm>
        </p:spPr>
        <p:txBody>
          <a:bodyPr>
            <a:normAutofit/>
          </a:bodyPr>
          <a:lstStyle/>
          <a:p>
            <a:r>
              <a:rPr lang="en-US" sz="2000" dirty="0"/>
              <a:t>   </a:t>
            </a:r>
            <a:r>
              <a:rPr lang="en-US" sz="2400" b="1" dirty="0">
                <a:latin typeface="+mn-lt"/>
              </a:rPr>
              <a:t>. </a:t>
            </a:r>
            <a:r>
              <a:rPr lang="en-US" sz="2400" b="1" dirty="0" err="1">
                <a:latin typeface="+mn-lt"/>
              </a:rPr>
              <a:t>analogRead</a:t>
            </a:r>
            <a:r>
              <a:rPr lang="en-US" sz="2400" b="1" dirty="0">
                <a:latin typeface="+mn-lt"/>
              </a:rPr>
              <a:t>() convert and read ADC reading</a:t>
            </a:r>
            <a:br>
              <a:rPr lang="en-US" sz="2400" b="1" dirty="0">
                <a:latin typeface="+mn-lt"/>
              </a:rPr>
            </a:br>
            <a:r>
              <a:rPr lang="en-US" sz="2400" b="1" dirty="0">
                <a:latin typeface="+mn-lt"/>
              </a:rPr>
              <a:t>      that lies between 0-1023 depending on </a:t>
            </a:r>
            <a:br>
              <a:rPr lang="en-US" sz="2400" b="1" dirty="0">
                <a:latin typeface="+mn-lt"/>
              </a:rPr>
            </a:br>
            <a:r>
              <a:rPr lang="en-US" sz="2400" b="1" dirty="0">
                <a:latin typeface="+mn-lt"/>
              </a:rPr>
              <a:t>      voltage across R2.</a:t>
            </a:r>
            <a:br>
              <a:rPr lang="en-US" sz="2400" b="1" dirty="0">
                <a:latin typeface="+mn-lt"/>
              </a:rPr>
            </a:br>
            <a:r>
              <a:rPr lang="en-US" sz="2400" b="1" dirty="0">
                <a:latin typeface="+mn-lt"/>
              </a:rPr>
              <a:t>   </a:t>
            </a:r>
            <a:br>
              <a:rPr lang="en-US" sz="2400" b="1" dirty="0">
                <a:latin typeface="+mn-lt"/>
              </a:rPr>
            </a:br>
            <a:r>
              <a:rPr lang="en-US" sz="2400" b="1" dirty="0">
                <a:latin typeface="+mn-lt"/>
              </a:rPr>
              <a:t>   . Even for a fixed DC constant voltage , ADC reading may vary between two or more values</a:t>
            </a:r>
            <a:br>
              <a:rPr lang="en-US" sz="2400" b="1" dirty="0">
                <a:latin typeface="+mn-lt"/>
              </a:rPr>
            </a:br>
            <a:r>
              <a:rPr lang="en-US" sz="2400" b="1" dirty="0">
                <a:latin typeface="+mn-lt"/>
              </a:rPr>
              <a:t>because of ADC quantization error </a:t>
            </a:r>
            <a:br>
              <a:rPr lang="en-US" sz="2400" b="1" dirty="0">
                <a:latin typeface="+mn-lt"/>
              </a:rPr>
            </a:br>
            <a:br>
              <a:rPr lang="en-US" sz="2400" b="1" dirty="0">
                <a:latin typeface="+mn-lt"/>
              </a:rPr>
            </a:br>
            <a:r>
              <a:rPr lang="en-US" sz="2400" b="1" dirty="0">
                <a:latin typeface="+mn-lt"/>
              </a:rPr>
              <a:t>   . However we are getting </a:t>
            </a:r>
            <a:r>
              <a:rPr lang="en-US" sz="2400" b="1" dirty="0" err="1">
                <a:latin typeface="+mn-lt"/>
              </a:rPr>
              <a:t>approx</a:t>
            </a:r>
            <a:r>
              <a:rPr lang="en-US" sz="2400" b="1" dirty="0">
                <a:latin typeface="+mn-lt"/>
              </a:rPr>
              <a:t> same values of</a:t>
            </a:r>
            <a:br>
              <a:rPr lang="en-US" sz="2400" b="1" dirty="0">
                <a:latin typeface="+mn-lt"/>
              </a:rPr>
            </a:br>
            <a:r>
              <a:rPr lang="en-US" sz="2400" b="1" dirty="0">
                <a:latin typeface="+mn-lt"/>
              </a:rPr>
              <a:t>voltages from serial monitor as expected as </a:t>
            </a:r>
            <a:r>
              <a:rPr lang="en-US" sz="2400" b="1" dirty="0" err="1">
                <a:latin typeface="+mn-lt"/>
              </a:rPr>
              <a:t>tinkercad</a:t>
            </a:r>
            <a:r>
              <a:rPr lang="en-US" sz="2400" b="1" dirty="0">
                <a:latin typeface="+mn-lt"/>
              </a:rPr>
              <a:t> treat resistances as ideal and deals with</a:t>
            </a:r>
            <a:br>
              <a:rPr lang="en-US" sz="2400" b="1" dirty="0">
                <a:latin typeface="+mn-lt"/>
              </a:rPr>
            </a:br>
            <a:r>
              <a:rPr lang="en-US" sz="2400" b="1" dirty="0">
                <a:latin typeface="+mn-lt"/>
              </a:rPr>
              <a:t> stable ADC readings .</a:t>
            </a:r>
            <a:br>
              <a:rPr lang="en-US" sz="2400" b="1" dirty="0">
                <a:latin typeface="+mn-lt"/>
              </a:rPr>
            </a:br>
            <a:br>
              <a:rPr lang="en-US" sz="2400" b="1" dirty="0">
                <a:latin typeface="+mn-lt"/>
              </a:rPr>
            </a:br>
            <a:r>
              <a:rPr lang="en-US" sz="2400" b="1" dirty="0">
                <a:latin typeface="+mn-lt"/>
              </a:rPr>
              <a:t>                             </a:t>
            </a:r>
            <a:endParaRPr lang="en-IN" sz="2000" dirty="0"/>
          </a:p>
        </p:txBody>
      </p:sp>
      <p:sp>
        <p:nvSpPr>
          <p:cNvPr id="8" name="TextBox 7">
            <a:extLst>
              <a:ext uri="{FF2B5EF4-FFF2-40B4-BE49-F238E27FC236}">
                <a16:creationId xmlns:a16="http://schemas.microsoft.com/office/drawing/2014/main" id="{57D92405-2E97-343E-86A7-EA7324CBEA6A}"/>
              </a:ext>
            </a:extLst>
          </p:cNvPr>
          <p:cNvSpPr txBox="1"/>
          <p:nvPr/>
        </p:nvSpPr>
        <p:spPr>
          <a:xfrm>
            <a:off x="1101214" y="2277465"/>
            <a:ext cx="3903406" cy="646331"/>
          </a:xfrm>
          <a:prstGeom prst="rect">
            <a:avLst/>
          </a:prstGeom>
          <a:noFill/>
        </p:spPr>
        <p:txBody>
          <a:bodyPr wrap="square" rtlCol="0">
            <a:spAutoFit/>
          </a:bodyPr>
          <a:lstStyle/>
          <a:p>
            <a:endParaRPr lang="en-US" dirty="0"/>
          </a:p>
          <a:p>
            <a:endParaRPr lang="en-IN" dirty="0"/>
          </a:p>
        </p:txBody>
      </p:sp>
      <p:pic>
        <p:nvPicPr>
          <p:cNvPr id="13" name="Content Placeholder 12">
            <a:extLst>
              <a:ext uri="{FF2B5EF4-FFF2-40B4-BE49-F238E27FC236}">
                <a16:creationId xmlns:a16="http://schemas.microsoft.com/office/drawing/2014/main" id="{BADBC84C-070A-B729-2533-6DB1442513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05601" y="274376"/>
            <a:ext cx="5230762" cy="6309247"/>
          </a:xfrm>
        </p:spPr>
      </p:pic>
    </p:spTree>
    <p:extLst>
      <p:ext uri="{BB962C8B-B14F-4D97-AF65-F5344CB8AC3E}">
        <p14:creationId xmlns:p14="http://schemas.microsoft.com/office/powerpoint/2010/main" val="3185242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C2830-AD5F-6E0C-6C4E-ECE540D54209}"/>
              </a:ext>
            </a:extLst>
          </p:cNvPr>
          <p:cNvSpPr>
            <a:spLocks noGrp="1"/>
          </p:cNvSpPr>
          <p:nvPr>
            <p:ph type="title"/>
          </p:nvPr>
        </p:nvSpPr>
        <p:spPr/>
        <p:txBody>
          <a:bodyPr>
            <a:normAutofit/>
          </a:bodyPr>
          <a:lstStyle/>
          <a:p>
            <a:r>
              <a:rPr lang="en-US" sz="3200" b="1" dirty="0">
                <a:latin typeface="+mn-lt"/>
              </a:rPr>
              <a:t>TASK B – CAPACITANCE MEASUREMENT FROM RC TIME CONSTANT</a:t>
            </a:r>
            <a:endParaRPr lang="en-IN" sz="3200" b="1" dirty="0">
              <a:latin typeface="+mn-lt"/>
            </a:endParaRPr>
          </a:p>
        </p:txBody>
      </p:sp>
      <p:pic>
        <p:nvPicPr>
          <p:cNvPr id="5" name="Content Placeholder 4">
            <a:extLst>
              <a:ext uri="{FF2B5EF4-FFF2-40B4-BE49-F238E27FC236}">
                <a16:creationId xmlns:a16="http://schemas.microsoft.com/office/drawing/2014/main" id="{3A24507C-B33E-ED97-BB90-6461E96690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96182"/>
            <a:ext cx="12113342" cy="5461818"/>
          </a:xfrm>
        </p:spPr>
      </p:pic>
    </p:spTree>
    <p:extLst>
      <p:ext uri="{BB962C8B-B14F-4D97-AF65-F5344CB8AC3E}">
        <p14:creationId xmlns:p14="http://schemas.microsoft.com/office/powerpoint/2010/main" val="4001409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D8EDB-4BDB-548D-82A2-72BD30EB0E46}"/>
              </a:ext>
            </a:extLst>
          </p:cNvPr>
          <p:cNvSpPr>
            <a:spLocks noGrp="1"/>
          </p:cNvSpPr>
          <p:nvPr>
            <p:ph type="title"/>
          </p:nvPr>
        </p:nvSpPr>
        <p:spPr>
          <a:xfrm>
            <a:off x="838200" y="1"/>
            <a:ext cx="10515600" cy="1304298"/>
          </a:xfrm>
        </p:spPr>
        <p:txBody>
          <a:bodyPr>
            <a:normAutofit/>
          </a:bodyPr>
          <a:lstStyle/>
          <a:p>
            <a:r>
              <a:rPr lang="en-US" sz="1600" b="1" dirty="0">
                <a:latin typeface="+mn-lt"/>
              </a:rPr>
              <a:t>For Capacitance =1uf                                                                                                               For Capacitance=2.5uf</a:t>
            </a:r>
            <a:endParaRPr lang="en-IN" sz="1600" b="1" dirty="0">
              <a:latin typeface="+mn-lt"/>
            </a:endParaRPr>
          </a:p>
        </p:txBody>
      </p:sp>
      <p:pic>
        <p:nvPicPr>
          <p:cNvPr id="5" name="Content Placeholder 4">
            <a:extLst>
              <a:ext uri="{FF2B5EF4-FFF2-40B4-BE49-F238E27FC236}">
                <a16:creationId xmlns:a16="http://schemas.microsoft.com/office/drawing/2014/main" id="{37A4B536-3332-1447-9173-0B9CECB984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02854"/>
            <a:ext cx="5948515" cy="2994920"/>
          </a:xfrm>
        </p:spPr>
      </p:pic>
      <p:pic>
        <p:nvPicPr>
          <p:cNvPr id="7" name="Picture 6">
            <a:extLst>
              <a:ext uri="{FF2B5EF4-FFF2-40B4-BE49-F238E27FC236}">
                <a16:creationId xmlns:a16="http://schemas.microsoft.com/office/drawing/2014/main" id="{8BE0115E-9030-29A9-96EF-BD4C74D265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8935" y="802854"/>
            <a:ext cx="5090949" cy="2994920"/>
          </a:xfrm>
          <a:prstGeom prst="rect">
            <a:avLst/>
          </a:prstGeom>
        </p:spPr>
      </p:pic>
      <p:pic>
        <p:nvPicPr>
          <p:cNvPr id="9" name="Picture 8">
            <a:extLst>
              <a:ext uri="{FF2B5EF4-FFF2-40B4-BE49-F238E27FC236}">
                <a16:creationId xmlns:a16="http://schemas.microsoft.com/office/drawing/2014/main" id="{0451BD9E-C15E-994E-41C5-935F195BB1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4565887" y="-768116"/>
            <a:ext cx="3060223" cy="12192002"/>
          </a:xfrm>
          <a:prstGeom prst="rect">
            <a:avLst/>
          </a:prstGeom>
        </p:spPr>
      </p:pic>
    </p:spTree>
    <p:extLst>
      <p:ext uri="{BB962C8B-B14F-4D97-AF65-F5344CB8AC3E}">
        <p14:creationId xmlns:p14="http://schemas.microsoft.com/office/powerpoint/2010/main" val="3141619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6616F-4D7F-131C-4862-996107504121}"/>
              </a:ext>
            </a:extLst>
          </p:cNvPr>
          <p:cNvSpPr>
            <a:spLocks noGrp="1"/>
          </p:cNvSpPr>
          <p:nvPr>
            <p:ph type="title"/>
          </p:nvPr>
        </p:nvSpPr>
        <p:spPr>
          <a:xfrm>
            <a:off x="0" y="-78658"/>
            <a:ext cx="12192000" cy="7049729"/>
          </a:xfrm>
        </p:spPr>
        <p:txBody>
          <a:bodyPr>
            <a:normAutofit/>
          </a:bodyPr>
          <a:lstStyle/>
          <a:p>
            <a:endParaRPr lang="en-IN" sz="1050" dirty="0"/>
          </a:p>
        </p:txBody>
      </p:sp>
      <p:sp>
        <p:nvSpPr>
          <p:cNvPr id="3" name="Content Placeholder 2">
            <a:extLst>
              <a:ext uri="{FF2B5EF4-FFF2-40B4-BE49-F238E27FC236}">
                <a16:creationId xmlns:a16="http://schemas.microsoft.com/office/drawing/2014/main" id="{B8B725F0-358C-123E-3E3E-87115E0030E8}"/>
              </a:ext>
            </a:extLst>
          </p:cNvPr>
          <p:cNvSpPr>
            <a:spLocks noGrp="1"/>
          </p:cNvSpPr>
          <p:nvPr>
            <p:ph idx="1"/>
          </p:nvPr>
        </p:nvSpPr>
        <p:spPr/>
        <p:txBody>
          <a:bodyPr/>
          <a:lstStyle/>
          <a:p>
            <a:r>
              <a:rPr lang="en-US" dirty="0" err="1"/>
              <a:t>hhhhhhhhhhhhhhhhhhhhhhhhh</a:t>
            </a:r>
            <a:endParaRPr lang="en-IN" dirty="0"/>
          </a:p>
        </p:txBody>
      </p:sp>
      <p:pic>
        <p:nvPicPr>
          <p:cNvPr id="5" name="Picture 4" descr="A screenshot of a computer program">
            <a:extLst>
              <a:ext uri="{FF2B5EF4-FFF2-40B4-BE49-F238E27FC236}">
                <a16:creationId xmlns:a16="http://schemas.microsoft.com/office/drawing/2014/main" id="{E038E9C2-5EB2-3C9D-0BC2-7319B79E98BF}"/>
              </a:ext>
            </a:extLst>
          </p:cNvPr>
          <p:cNvPicPr>
            <a:picLocks noChangeAspect="1"/>
          </p:cNvPicPr>
          <p:nvPr/>
        </p:nvPicPr>
        <p:blipFill>
          <a:blip r:embed="rId2"/>
          <a:stretch>
            <a:fillRect/>
          </a:stretch>
        </p:blipFill>
        <p:spPr>
          <a:xfrm>
            <a:off x="0" y="-1"/>
            <a:ext cx="5879690" cy="6858001"/>
          </a:xfrm>
          <a:prstGeom prst="rect">
            <a:avLst/>
          </a:prstGeom>
        </p:spPr>
      </p:pic>
      <p:pic>
        <p:nvPicPr>
          <p:cNvPr id="7" name="Picture 6">
            <a:extLst>
              <a:ext uri="{FF2B5EF4-FFF2-40B4-BE49-F238E27FC236}">
                <a16:creationId xmlns:a16="http://schemas.microsoft.com/office/drawing/2014/main" id="{8C6C7FB4-FD1F-D72D-59B8-99498E9B10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9690" y="-61452"/>
            <a:ext cx="6312310" cy="6919452"/>
          </a:xfrm>
          <a:prstGeom prst="rect">
            <a:avLst/>
          </a:prstGeom>
        </p:spPr>
      </p:pic>
    </p:spTree>
    <p:extLst>
      <p:ext uri="{BB962C8B-B14F-4D97-AF65-F5344CB8AC3E}">
        <p14:creationId xmlns:p14="http://schemas.microsoft.com/office/powerpoint/2010/main" val="720268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2CB0-EFA3-DEEB-21FE-BCA2E185E934}"/>
              </a:ext>
            </a:extLst>
          </p:cNvPr>
          <p:cNvSpPr>
            <a:spLocks noGrp="1"/>
          </p:cNvSpPr>
          <p:nvPr>
            <p:ph type="title"/>
          </p:nvPr>
        </p:nvSpPr>
        <p:spPr>
          <a:xfrm>
            <a:off x="838200" y="265471"/>
            <a:ext cx="10872019" cy="2035277"/>
          </a:xfrm>
        </p:spPr>
        <p:txBody>
          <a:bodyPr>
            <a:normAutofit/>
          </a:bodyPr>
          <a:lstStyle/>
          <a:p>
            <a:r>
              <a:rPr lang="en-US" sz="2000" b="1" dirty="0">
                <a:latin typeface="+mn-lt"/>
              </a:rPr>
              <a:t>Some Potential sources</a:t>
            </a:r>
            <a:br>
              <a:rPr lang="en-US" sz="2000" b="1" dirty="0">
                <a:latin typeface="+mn-lt"/>
              </a:rPr>
            </a:br>
            <a:r>
              <a:rPr lang="en-US" sz="2000" b="1" dirty="0">
                <a:latin typeface="+mn-lt"/>
              </a:rPr>
              <a:t>1) ADC Quantization error :</a:t>
            </a:r>
            <a:br>
              <a:rPr lang="en-US" sz="2000" b="1" dirty="0">
                <a:latin typeface="+mn-lt"/>
              </a:rPr>
            </a:br>
            <a:r>
              <a:rPr lang="en-US" sz="2000" b="1" dirty="0">
                <a:latin typeface="+mn-lt"/>
              </a:rPr>
              <a:t>       for  ADC with 0-0V and 1023-5V , difference between two consecutive digital</a:t>
            </a:r>
            <a:br>
              <a:rPr lang="en-US" sz="2000" b="1" dirty="0">
                <a:latin typeface="+mn-lt"/>
              </a:rPr>
            </a:br>
            <a:r>
              <a:rPr lang="en-US" sz="2000" b="1" dirty="0">
                <a:latin typeface="+mn-lt"/>
              </a:rPr>
              <a:t>numbers =(5/1023)*1000=4.88mv so voltage change less than 4.88 cannot be detected and give previous ADC reading due to which threshold voltage may be detected slowly or early which can give error in time implies error in capacitance</a:t>
            </a:r>
            <a:br>
              <a:rPr lang="en-US" sz="2000" b="1" dirty="0"/>
            </a:br>
            <a:endParaRPr lang="en-IN" sz="2000" b="1" dirty="0"/>
          </a:p>
        </p:txBody>
      </p:sp>
      <p:sp>
        <p:nvSpPr>
          <p:cNvPr id="3" name="Content Placeholder 2">
            <a:extLst>
              <a:ext uri="{FF2B5EF4-FFF2-40B4-BE49-F238E27FC236}">
                <a16:creationId xmlns:a16="http://schemas.microsoft.com/office/drawing/2014/main" id="{8BC49B63-8D3B-ACE4-3B38-D693C18B9534}"/>
              </a:ext>
            </a:extLst>
          </p:cNvPr>
          <p:cNvSpPr>
            <a:spLocks noGrp="1"/>
          </p:cNvSpPr>
          <p:nvPr>
            <p:ph idx="1"/>
          </p:nvPr>
        </p:nvSpPr>
        <p:spPr/>
        <p:txBody>
          <a:bodyPr>
            <a:normAutofit/>
          </a:bodyPr>
          <a:lstStyle/>
          <a:p>
            <a:pPr marL="0" indent="0">
              <a:buNone/>
            </a:pPr>
            <a:endParaRPr lang="en-US" sz="2000" dirty="0"/>
          </a:p>
          <a:p>
            <a:pPr marL="0" indent="0">
              <a:buNone/>
            </a:pPr>
            <a:r>
              <a:rPr lang="en-US" sz="2000" b="1" dirty="0"/>
              <a:t>2) Resistance tolerance values: </a:t>
            </a:r>
          </a:p>
          <a:p>
            <a:pPr marL="0" indent="0">
              <a:buNone/>
            </a:pPr>
            <a:r>
              <a:rPr lang="en-US" sz="2000" b="1" dirty="0"/>
              <a:t>     Here we used R=100kohm which is basically included with tolerance values (R+-x%) which may give error in capacitance</a:t>
            </a:r>
          </a:p>
          <a:p>
            <a:pPr marL="0" indent="0">
              <a:buNone/>
            </a:pPr>
            <a:endParaRPr lang="en-US" sz="2000" b="1" dirty="0"/>
          </a:p>
          <a:p>
            <a:pPr marL="0" indent="0">
              <a:buNone/>
            </a:pPr>
            <a:r>
              <a:rPr lang="en-US" sz="2000" b="1" dirty="0"/>
              <a:t>3) Capacitance takes some time to discharge. If it is initially not discharged completely then time taken to reach threshold voltage may be different from expected one and due to which we can get error in capacitance</a:t>
            </a:r>
            <a:r>
              <a:rPr lang="en-US" sz="2000" dirty="0"/>
              <a:t>.</a:t>
            </a:r>
            <a:endParaRPr lang="en-IN" sz="2000" dirty="0"/>
          </a:p>
        </p:txBody>
      </p:sp>
    </p:spTree>
    <p:extLst>
      <p:ext uri="{BB962C8B-B14F-4D97-AF65-F5344CB8AC3E}">
        <p14:creationId xmlns:p14="http://schemas.microsoft.com/office/powerpoint/2010/main" val="4179750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5B6F6-AA83-C24C-28E7-F7278AAE5D95}"/>
              </a:ext>
            </a:extLst>
          </p:cNvPr>
          <p:cNvSpPr>
            <a:spLocks noGrp="1"/>
          </p:cNvSpPr>
          <p:nvPr>
            <p:ph type="title"/>
          </p:nvPr>
        </p:nvSpPr>
        <p:spPr/>
        <p:txBody>
          <a:bodyPr>
            <a:normAutofit/>
          </a:bodyPr>
          <a:lstStyle/>
          <a:p>
            <a:r>
              <a:rPr lang="en-US" sz="3200" b="1" dirty="0">
                <a:latin typeface="+mn-lt"/>
              </a:rPr>
              <a:t>TASK C –BASIC OHMETRE USING VOLTAGE DIVIDOR METHOD</a:t>
            </a:r>
            <a:endParaRPr lang="en-IN" sz="3200" b="1" dirty="0">
              <a:latin typeface="+mn-lt"/>
            </a:endParaRPr>
          </a:p>
        </p:txBody>
      </p:sp>
      <p:pic>
        <p:nvPicPr>
          <p:cNvPr id="5" name="Content Placeholder 4">
            <a:extLst>
              <a:ext uri="{FF2B5EF4-FFF2-40B4-BE49-F238E27FC236}">
                <a16:creationId xmlns:a16="http://schemas.microsoft.com/office/drawing/2014/main" id="{EA506D2C-990D-F3F1-12DD-65FBC49CDF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88" y="1347019"/>
            <a:ext cx="12138612" cy="5510981"/>
          </a:xfrm>
        </p:spPr>
      </p:pic>
    </p:spTree>
    <p:extLst>
      <p:ext uri="{BB962C8B-B14F-4D97-AF65-F5344CB8AC3E}">
        <p14:creationId xmlns:p14="http://schemas.microsoft.com/office/powerpoint/2010/main" val="3183717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CFD98-42B4-38E1-3E1F-C3D03454180C}"/>
              </a:ext>
            </a:extLst>
          </p:cNvPr>
          <p:cNvSpPr>
            <a:spLocks noGrp="1"/>
          </p:cNvSpPr>
          <p:nvPr>
            <p:ph type="title"/>
          </p:nvPr>
        </p:nvSpPr>
        <p:spPr>
          <a:xfrm>
            <a:off x="838200" y="1"/>
            <a:ext cx="10515600" cy="845573"/>
          </a:xfrm>
        </p:spPr>
        <p:txBody>
          <a:bodyPr>
            <a:normAutofit/>
          </a:bodyPr>
          <a:lstStyle/>
          <a:p>
            <a:r>
              <a:rPr lang="en-US" sz="1800" b="1" dirty="0">
                <a:latin typeface="+mn-lt"/>
              </a:rPr>
              <a:t>For Resistance=2.2Kohm                          For Resistance=1.2Kohm                            For Resistance=8.5Kohm</a:t>
            </a:r>
            <a:endParaRPr lang="en-IN" sz="1800" b="1" dirty="0">
              <a:latin typeface="+mn-lt"/>
            </a:endParaRPr>
          </a:p>
        </p:txBody>
      </p:sp>
      <p:pic>
        <p:nvPicPr>
          <p:cNvPr id="13" name="Content Placeholder 12">
            <a:extLst>
              <a:ext uri="{FF2B5EF4-FFF2-40B4-BE49-F238E27FC236}">
                <a16:creationId xmlns:a16="http://schemas.microsoft.com/office/drawing/2014/main" id="{A5F74E07-ABA9-EB4A-8E2D-AB40DEBADE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562123"/>
            <a:ext cx="4015250" cy="4313695"/>
          </a:xfrm>
        </p:spPr>
      </p:pic>
      <p:pic>
        <p:nvPicPr>
          <p:cNvPr id="15" name="Picture 14">
            <a:extLst>
              <a:ext uri="{FF2B5EF4-FFF2-40B4-BE49-F238E27FC236}">
                <a16:creationId xmlns:a16="http://schemas.microsoft.com/office/drawing/2014/main" id="{93EAA291-AD91-64F0-0A3A-B19E59C19A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5249" y="562123"/>
            <a:ext cx="4287618" cy="4351339"/>
          </a:xfrm>
          <a:prstGeom prst="rect">
            <a:avLst/>
          </a:prstGeom>
        </p:spPr>
      </p:pic>
      <p:pic>
        <p:nvPicPr>
          <p:cNvPr id="19" name="Picture 18">
            <a:extLst>
              <a:ext uri="{FF2B5EF4-FFF2-40B4-BE49-F238E27FC236}">
                <a16:creationId xmlns:a16="http://schemas.microsoft.com/office/drawing/2014/main" id="{8572F950-3EEB-3492-B198-C03F83486D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2474911" y="2717704"/>
            <a:ext cx="1665384" cy="6615208"/>
          </a:xfrm>
          <a:prstGeom prst="rect">
            <a:avLst/>
          </a:prstGeom>
        </p:spPr>
      </p:pic>
      <p:pic>
        <p:nvPicPr>
          <p:cNvPr id="24" name="Picture 23" descr="A screenshot of a computer program">
            <a:extLst>
              <a:ext uri="{FF2B5EF4-FFF2-40B4-BE49-F238E27FC236}">
                <a16:creationId xmlns:a16="http://schemas.microsoft.com/office/drawing/2014/main" id="{C0E4298D-16A4-C3C6-DADB-97DCBF23D015}"/>
              </a:ext>
            </a:extLst>
          </p:cNvPr>
          <p:cNvPicPr>
            <a:picLocks noChangeAspect="1"/>
          </p:cNvPicPr>
          <p:nvPr/>
        </p:nvPicPr>
        <p:blipFill>
          <a:blip r:embed="rId5"/>
          <a:stretch>
            <a:fillRect/>
          </a:stretch>
        </p:blipFill>
        <p:spPr>
          <a:xfrm>
            <a:off x="8214600" y="562122"/>
            <a:ext cx="3977400" cy="4630495"/>
          </a:xfrm>
          <a:prstGeom prst="rect">
            <a:avLst/>
          </a:prstGeom>
        </p:spPr>
      </p:pic>
      <p:pic>
        <p:nvPicPr>
          <p:cNvPr id="26" name="Picture 25">
            <a:extLst>
              <a:ext uri="{FF2B5EF4-FFF2-40B4-BE49-F238E27FC236}">
                <a16:creationId xmlns:a16="http://schemas.microsoft.com/office/drawing/2014/main" id="{DDA33B1D-54CB-4658-DE0B-64D67FE57B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8570913" y="3236913"/>
            <a:ext cx="1665382" cy="5576791"/>
          </a:xfrm>
          <a:prstGeom prst="rect">
            <a:avLst/>
          </a:prstGeom>
        </p:spPr>
      </p:pic>
    </p:spTree>
    <p:extLst>
      <p:ext uri="{BB962C8B-B14F-4D97-AF65-F5344CB8AC3E}">
        <p14:creationId xmlns:p14="http://schemas.microsoft.com/office/powerpoint/2010/main" val="590655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99E0-970D-17D8-0043-EB9E442D9302}"/>
              </a:ext>
            </a:extLst>
          </p:cNvPr>
          <p:cNvSpPr>
            <a:spLocks noGrp="1"/>
          </p:cNvSpPr>
          <p:nvPr>
            <p:ph type="title"/>
          </p:nvPr>
        </p:nvSpPr>
        <p:spPr>
          <a:xfrm>
            <a:off x="0" y="-334297"/>
            <a:ext cx="11353800" cy="1474839"/>
          </a:xfrm>
        </p:spPr>
        <p:txBody>
          <a:bodyPr/>
          <a:lstStyle/>
          <a:p>
            <a:r>
              <a:rPr lang="en-US" dirty="0"/>
              <a:t> </a:t>
            </a:r>
            <a:r>
              <a:rPr lang="en-US" b="1" dirty="0">
                <a:latin typeface="+mn-lt"/>
              </a:rPr>
              <a:t>Theoretical Calculations </a:t>
            </a:r>
            <a:endParaRPr lang="en-IN" b="1" dirty="0">
              <a:latin typeface="+mn-lt"/>
            </a:endParaRPr>
          </a:p>
        </p:txBody>
      </p:sp>
      <p:pic>
        <p:nvPicPr>
          <p:cNvPr id="5" name="Content Placeholder 4">
            <a:extLst>
              <a:ext uri="{FF2B5EF4-FFF2-40B4-BE49-F238E27FC236}">
                <a16:creationId xmlns:a16="http://schemas.microsoft.com/office/drawing/2014/main" id="{9C6FBF88-EC27-3AC1-81AC-9779522F16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44245" y="806245"/>
            <a:ext cx="6096000" cy="6007510"/>
          </a:xfrm>
        </p:spPr>
      </p:pic>
      <p:pic>
        <p:nvPicPr>
          <p:cNvPr id="7" name="Picture 6">
            <a:extLst>
              <a:ext uri="{FF2B5EF4-FFF2-40B4-BE49-F238E27FC236}">
                <a16:creationId xmlns:a16="http://schemas.microsoft.com/office/drawing/2014/main" id="{391D0E75-A4D9-DDB9-A41F-F05F8B8BA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8182497" y="2848497"/>
            <a:ext cx="1834515" cy="6184490"/>
          </a:xfrm>
          <a:prstGeom prst="rect">
            <a:avLst/>
          </a:prstGeom>
        </p:spPr>
      </p:pic>
    </p:spTree>
    <p:extLst>
      <p:ext uri="{BB962C8B-B14F-4D97-AF65-F5344CB8AC3E}">
        <p14:creationId xmlns:p14="http://schemas.microsoft.com/office/powerpoint/2010/main" val="4138996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6D875-E6BD-0B20-8A38-BF414E8289CE}"/>
              </a:ext>
            </a:extLst>
          </p:cNvPr>
          <p:cNvSpPr>
            <a:spLocks noGrp="1"/>
          </p:cNvSpPr>
          <p:nvPr>
            <p:ph type="title"/>
          </p:nvPr>
        </p:nvSpPr>
        <p:spPr/>
        <p:txBody>
          <a:bodyPr>
            <a:normAutofit/>
          </a:bodyPr>
          <a:lstStyle/>
          <a:p>
            <a:r>
              <a:rPr lang="en-US" sz="2000" b="1" dirty="0">
                <a:latin typeface="+mn-lt"/>
              </a:rPr>
              <a:t>. Suppose for unknown resistor=8.5Kohm</a:t>
            </a:r>
            <a:br>
              <a:rPr lang="en-US" sz="2000" b="1" dirty="0">
                <a:latin typeface="+mn-lt"/>
              </a:rPr>
            </a:br>
            <a:r>
              <a:rPr lang="en-US" sz="2000" b="1" dirty="0">
                <a:latin typeface="+mn-lt"/>
              </a:rPr>
              <a:t>. We find output voltage 2.297volt theoretically</a:t>
            </a:r>
            <a:br>
              <a:rPr lang="en-US" sz="2000" b="1" dirty="0">
                <a:latin typeface="+mn-lt"/>
              </a:rPr>
            </a:br>
            <a:endParaRPr lang="en-IN" sz="2000" b="1" dirty="0">
              <a:latin typeface="+mn-lt"/>
            </a:endParaRPr>
          </a:p>
        </p:txBody>
      </p:sp>
      <p:sp>
        <p:nvSpPr>
          <p:cNvPr id="3" name="Content Placeholder 2">
            <a:extLst>
              <a:ext uri="{FF2B5EF4-FFF2-40B4-BE49-F238E27FC236}">
                <a16:creationId xmlns:a16="http://schemas.microsoft.com/office/drawing/2014/main" id="{38E946DA-5A1C-E04F-7F25-EC99E836EEFD}"/>
              </a:ext>
            </a:extLst>
          </p:cNvPr>
          <p:cNvSpPr>
            <a:spLocks noGrp="1"/>
          </p:cNvSpPr>
          <p:nvPr>
            <p:ph idx="1"/>
          </p:nvPr>
        </p:nvSpPr>
        <p:spPr>
          <a:xfrm>
            <a:off x="838200" y="1229032"/>
            <a:ext cx="10515600" cy="4947931"/>
          </a:xfrm>
        </p:spPr>
        <p:txBody>
          <a:bodyPr>
            <a:normAutofit/>
          </a:bodyPr>
          <a:lstStyle/>
          <a:p>
            <a:pPr marL="0" indent="0">
              <a:buNone/>
            </a:pPr>
            <a:r>
              <a:rPr lang="en-US" sz="2000" b="1" dirty="0"/>
              <a:t>. Now consider 10 bit ADC (0-0Volt, 1023-5volt),</a:t>
            </a:r>
          </a:p>
          <a:p>
            <a:pPr marL="0" indent="0">
              <a:buNone/>
            </a:pPr>
            <a:r>
              <a:rPr lang="en-US" sz="2000" b="1" dirty="0"/>
              <a:t>. We know Each step has a size of (5/1023)*1000=4.88mv</a:t>
            </a:r>
          </a:p>
          <a:p>
            <a:pPr marL="0" indent="0">
              <a:buNone/>
            </a:pPr>
            <a:r>
              <a:rPr lang="en-US" sz="2000" b="1" dirty="0"/>
              <a:t>. So the maximum ADC error =  +- ½(4.88mv)</a:t>
            </a:r>
          </a:p>
          <a:p>
            <a:pPr marL="0" indent="0">
              <a:buNone/>
            </a:pPr>
            <a:r>
              <a:rPr lang="en-US" sz="2000" b="1" dirty="0"/>
              <a:t>. Let convert output voltage to ADC value that is</a:t>
            </a:r>
          </a:p>
          <a:p>
            <a:pPr marL="0" indent="0">
              <a:buNone/>
            </a:pPr>
            <a:r>
              <a:rPr lang="en-US" sz="2000" b="1" dirty="0"/>
              <a:t>.  2.297=n(4.88/1000) which gives n </a:t>
            </a:r>
            <a:r>
              <a:rPr lang="en-US" sz="2000" b="1" dirty="0" err="1"/>
              <a:t>approx</a:t>
            </a:r>
            <a:r>
              <a:rPr lang="en-US" sz="2000" b="1" dirty="0"/>
              <a:t> 478.54</a:t>
            </a:r>
          </a:p>
          <a:p>
            <a:pPr marL="0" indent="0">
              <a:buNone/>
            </a:pPr>
            <a:r>
              <a:rPr lang="en-US" sz="2000" b="1" dirty="0"/>
              <a:t>.So maximum Voltage ADC can read = 2.297+(1/2)*(4.88/1000)=2.29944volt</a:t>
            </a:r>
          </a:p>
          <a:p>
            <a:pPr marL="0" indent="0">
              <a:buNone/>
            </a:pPr>
            <a:r>
              <a:rPr lang="en-US" sz="2000" b="1" dirty="0"/>
              <a:t>.Similarly minimum voltage ADC can read=2.297-(1/2)*(4.88/1000)=2.29454volt</a:t>
            </a:r>
          </a:p>
          <a:p>
            <a:pPr marL="0" indent="0">
              <a:buNone/>
            </a:pPr>
            <a:r>
              <a:rPr lang="en-US" sz="2000" b="1" dirty="0"/>
              <a:t>.So output voltage vary from 2.29454 to 2.29944 due to which ADC reading varies as 478,479,478..</a:t>
            </a:r>
          </a:p>
          <a:p>
            <a:pPr marL="0" indent="0">
              <a:buNone/>
            </a:pPr>
            <a:r>
              <a:rPr lang="en-US" sz="2000" b="1" dirty="0"/>
              <a:t>.This is called ADC quantization error.                                                         </a:t>
            </a:r>
            <a:endParaRPr lang="en-IN" sz="2000" b="1" dirty="0"/>
          </a:p>
        </p:txBody>
      </p:sp>
    </p:spTree>
    <p:extLst>
      <p:ext uri="{BB962C8B-B14F-4D97-AF65-F5344CB8AC3E}">
        <p14:creationId xmlns:p14="http://schemas.microsoft.com/office/powerpoint/2010/main" val="2516726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TotalTime>
  <Words>508</Words>
  <Application>Microsoft Office PowerPoint</Application>
  <PresentationFormat>Widescreen</PresentationFormat>
  <Paragraphs>38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ASSIGNMENT 1</vt:lpstr>
      <vt:lpstr>OBJECTIVE</vt:lpstr>
      <vt:lpstr>TASK A -VOLTAGE DIVIDER ANALYSIS FOR ESTIMATING VOLTAGE</vt:lpstr>
      <vt:lpstr>PAIR(10Kohm-10kohm)                                                PAIR(4.7Kohm-10kohm)                                         PAIR(1Kohm-15kohm) </vt:lpstr>
      <vt:lpstr>   . analogRead() convert and read ADC reading       that lies between 0-1023 depending on        voltage across R2.        . Even for a fixed DC constant voltage , ADC reading may vary between two or more values because of ADC quantization error      . However we are getting approx same values of voltages from serial monitor as expected as tinkercad treat resistances as ideal and deals with  stable ADC readings .                               </vt:lpstr>
      <vt:lpstr>TASK B – CAPACITANCE MEASUREMENT FROM RC TIME CONSTANT</vt:lpstr>
      <vt:lpstr>For Capacitance =1uf                                                                                                               For Capacitance=2.5uf</vt:lpstr>
      <vt:lpstr>PowerPoint Presentation</vt:lpstr>
      <vt:lpstr>Some Potential sources 1) ADC Quantization error :        for  ADC with 0-0V and 1023-5V , difference between two consecutive digital numbers =(5/1023)*1000=4.88mv so voltage change less than 4.88 cannot be detected and give previous ADC reading due to which threshold voltage may be detected slowly or early which can give error in time implies error in capacitance </vt:lpstr>
      <vt:lpstr>TASK C –BASIC OHMETRE USING VOLTAGE DIVIDOR METHOD</vt:lpstr>
      <vt:lpstr>For Resistance=2.2Kohm                          For Resistance=1.2Kohm                            For Resistance=8.5Kohm</vt:lpstr>
      <vt:lpstr> Theoretical Calculations </vt:lpstr>
      <vt:lpstr>. Suppose for unknown resistor=8.5Kohm . We find output voltage 2.297volt theoretically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PRIYANSHU MEHTA</dc:creator>
  <cp:lastModifiedBy>PRIYANSHU MEHTA</cp:lastModifiedBy>
  <cp:revision>4</cp:revision>
  <dcterms:created xsi:type="dcterms:W3CDTF">2025-12-13T12:21:44Z</dcterms:created>
  <dcterms:modified xsi:type="dcterms:W3CDTF">2025-12-13T17:45:56Z</dcterms:modified>
</cp:coreProperties>
</file>